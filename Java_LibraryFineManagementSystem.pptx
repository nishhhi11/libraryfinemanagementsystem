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ailey" charset="1" panose="00000000000000000000"/>
      <p:regular r:id="rId13"/>
    </p:embeddedFont>
    <p:embeddedFont>
      <p:font typeface="Happy Font TH" charset="1" panose="02000503000000000000"/>
      <p:regular r:id="rId14"/>
    </p:embeddedFont>
    <p:embeddedFont>
      <p:font typeface="Ribeye" charset="1" panose="020F0505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80412" y="-337836"/>
            <a:ext cx="14940973" cy="9007041"/>
          </a:xfrm>
          <a:custGeom>
            <a:avLst/>
            <a:gdLst/>
            <a:ahLst/>
            <a:cxnLst/>
            <a:rect r="r" b="b" t="t" l="l"/>
            <a:pathLst>
              <a:path h="9007041" w="14940973">
                <a:moveTo>
                  <a:pt x="0" y="0"/>
                </a:moveTo>
                <a:lnTo>
                  <a:pt x="14940973" y="0"/>
                </a:lnTo>
                <a:lnTo>
                  <a:pt x="14940973" y="9007042"/>
                </a:lnTo>
                <a:lnTo>
                  <a:pt x="0" y="9007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42684" y="7842973"/>
            <a:ext cx="5365784" cy="2478017"/>
          </a:xfrm>
          <a:custGeom>
            <a:avLst/>
            <a:gdLst/>
            <a:ahLst/>
            <a:cxnLst/>
            <a:rect r="r" b="b" t="t" l="l"/>
            <a:pathLst>
              <a:path h="2478017" w="5365784">
                <a:moveTo>
                  <a:pt x="0" y="0"/>
                </a:moveTo>
                <a:lnTo>
                  <a:pt x="5365784" y="0"/>
                </a:lnTo>
                <a:lnTo>
                  <a:pt x="5365784" y="2478016"/>
                </a:lnTo>
                <a:lnTo>
                  <a:pt x="0" y="2478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39269">
            <a:off x="12456179" y="4741210"/>
            <a:ext cx="4851376" cy="4397888"/>
          </a:xfrm>
          <a:custGeom>
            <a:avLst/>
            <a:gdLst/>
            <a:ahLst/>
            <a:cxnLst/>
            <a:rect r="r" b="b" t="t" l="l"/>
            <a:pathLst>
              <a:path h="4397888" w="4851376">
                <a:moveTo>
                  <a:pt x="0" y="0"/>
                </a:moveTo>
                <a:lnTo>
                  <a:pt x="4851376" y="0"/>
                </a:lnTo>
                <a:lnTo>
                  <a:pt x="4851376" y="4397889"/>
                </a:lnTo>
                <a:lnTo>
                  <a:pt x="0" y="4397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34824">
            <a:off x="2171735" y="2737769"/>
            <a:ext cx="13048348" cy="1962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3"/>
              </a:lnSpc>
            </a:pPr>
            <a:r>
              <a:rPr lang="en-US" sz="13235">
                <a:solidFill>
                  <a:srgbClr val="3E3835"/>
                </a:solidFill>
                <a:latin typeface="Railey"/>
                <a:ea typeface="Railey"/>
                <a:cs typeface="Railey"/>
                <a:sym typeface="Railey"/>
              </a:rPr>
              <a:t>MINDSPACE</a:t>
            </a:r>
          </a:p>
        </p:txBody>
      </p:sp>
      <p:sp>
        <p:nvSpPr>
          <p:cNvPr name="TextBox 7" id="7"/>
          <p:cNvSpPr txBox="true"/>
          <p:nvPr/>
        </p:nvSpPr>
        <p:spPr>
          <a:xfrm rot="-234824">
            <a:off x="4830124" y="4822486"/>
            <a:ext cx="8629053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sz="45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Library Fine Management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02801" y="6588743"/>
            <a:ext cx="3291483" cy="105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3"/>
              </a:lnSpc>
            </a:pPr>
            <a:r>
              <a:rPr lang="en-US" sz="3023" spc="90">
                <a:solidFill>
                  <a:srgbClr val="3E3835"/>
                </a:solidFill>
                <a:latin typeface="Ribeye"/>
                <a:ea typeface="Ribeye"/>
                <a:cs typeface="Ribeye"/>
                <a:sym typeface="Ribeye"/>
              </a:rPr>
              <a:t>PRESENTED BY</a:t>
            </a:r>
          </a:p>
          <a:p>
            <a:pPr algn="ctr">
              <a:lnSpc>
                <a:spcPts val="4233"/>
              </a:lnSpc>
              <a:spcBef>
                <a:spcPct val="0"/>
              </a:spcBef>
            </a:pPr>
            <a:r>
              <a:rPr lang="en-US" sz="3023" spc="90">
                <a:solidFill>
                  <a:srgbClr val="3E3835"/>
                </a:solidFill>
                <a:latin typeface="Ribeye"/>
                <a:ea typeface="Ribeye"/>
                <a:cs typeface="Ribeye"/>
                <a:sym typeface="Ribeye"/>
              </a:rPr>
              <a:t>NISHI CHOPDA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21" t="-50637" r="-3769" b="-454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358936" y="2134358"/>
            <a:ext cx="4738602" cy="8424182"/>
          </a:xfrm>
          <a:custGeom>
            <a:avLst/>
            <a:gdLst/>
            <a:ahLst/>
            <a:cxnLst/>
            <a:rect r="r" b="b" t="t" l="l"/>
            <a:pathLst>
              <a:path h="8424182" w="4738602">
                <a:moveTo>
                  <a:pt x="0" y="0"/>
                </a:moveTo>
                <a:lnTo>
                  <a:pt x="4738602" y="0"/>
                </a:lnTo>
                <a:lnTo>
                  <a:pt x="4738602" y="8424182"/>
                </a:lnTo>
                <a:lnTo>
                  <a:pt x="0" y="8424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1190462" y="2134358"/>
            <a:ext cx="4738602" cy="8424182"/>
          </a:xfrm>
          <a:custGeom>
            <a:avLst/>
            <a:gdLst/>
            <a:ahLst/>
            <a:cxnLst/>
            <a:rect r="r" b="b" t="t" l="l"/>
            <a:pathLst>
              <a:path h="8424182" w="4738602">
                <a:moveTo>
                  <a:pt x="0" y="0"/>
                </a:moveTo>
                <a:lnTo>
                  <a:pt x="4738602" y="0"/>
                </a:lnTo>
                <a:lnTo>
                  <a:pt x="4738602" y="8424182"/>
                </a:lnTo>
                <a:lnTo>
                  <a:pt x="0" y="8424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030705" y="7965437"/>
            <a:ext cx="3257295" cy="2321563"/>
          </a:xfrm>
          <a:custGeom>
            <a:avLst/>
            <a:gdLst/>
            <a:ahLst/>
            <a:cxnLst/>
            <a:rect r="r" b="b" t="t" l="l"/>
            <a:pathLst>
              <a:path h="2321563" w="3257295">
                <a:moveTo>
                  <a:pt x="3257295" y="0"/>
                </a:moveTo>
                <a:lnTo>
                  <a:pt x="0" y="0"/>
                </a:lnTo>
                <a:lnTo>
                  <a:pt x="0" y="2321563"/>
                </a:lnTo>
                <a:lnTo>
                  <a:pt x="3257295" y="2321563"/>
                </a:lnTo>
                <a:lnTo>
                  <a:pt x="325729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83591" y="1450144"/>
            <a:ext cx="10724948" cy="3234823"/>
          </a:xfrm>
          <a:custGeom>
            <a:avLst/>
            <a:gdLst/>
            <a:ahLst/>
            <a:cxnLst/>
            <a:rect r="r" b="b" t="t" l="l"/>
            <a:pathLst>
              <a:path h="3234823" w="10724948">
                <a:moveTo>
                  <a:pt x="0" y="0"/>
                </a:moveTo>
                <a:lnTo>
                  <a:pt x="10724948" y="0"/>
                </a:lnTo>
                <a:lnTo>
                  <a:pt x="10724948" y="3234823"/>
                </a:lnTo>
                <a:lnTo>
                  <a:pt x="0" y="3234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81752">
            <a:off x="5989886" y="2259670"/>
            <a:ext cx="6711547" cy="63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657" spc="109">
                <a:solidFill>
                  <a:srgbClr val="3E3835"/>
                </a:solidFill>
                <a:latin typeface="Ribeye"/>
                <a:ea typeface="Ribeye"/>
                <a:cs typeface="Ribeye"/>
                <a:sym typeface="Ribeye"/>
              </a:rPr>
              <a:t>PROBLEM &amp; 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3630" y="4791988"/>
            <a:ext cx="742243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Pr</a:t>
            </a: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oblem</a:t>
            </a:r>
          </a:p>
          <a:p>
            <a:pPr algn="l">
              <a:lnSpc>
                <a:spcPts val="4350"/>
              </a:lnSpc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Managing library books, students, issue and return records manually can make it difficult to track availability, overdue returns and fines.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78607" y="4608767"/>
            <a:ext cx="7422435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Obj</a:t>
            </a: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ectives</a:t>
            </a:r>
          </a:p>
          <a:p>
            <a:pPr algn="l" marL="647703" indent="-323852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Manage books and student records</a:t>
            </a:r>
          </a:p>
          <a:p>
            <a:pPr algn="l" marL="647703" indent="-323852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Track book issue and return operations</a:t>
            </a:r>
          </a:p>
          <a:p>
            <a:pPr algn="l" marL="647703" indent="-323852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Calculate overdue days and fines</a:t>
            </a:r>
          </a:p>
          <a:p>
            <a:pPr algn="l" marL="647703" indent="-323852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Maintain records using file handling</a:t>
            </a:r>
          </a:p>
          <a:p>
            <a:pPr algn="l" marL="647703" indent="-323852" lvl="1">
              <a:lnSpc>
                <a:spcPts val="4350"/>
              </a:lnSpc>
              <a:buFont typeface="Arial"/>
              <a:buChar char="•"/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Provide a simple Java Swing interface</a:t>
            </a:r>
          </a:p>
          <a:p>
            <a:pPr algn="l" marL="647703" indent="-323852" lvl="1">
              <a:lnSpc>
                <a:spcPts val="4350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18" t="-78789" r="-4272" b="-172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63548" y="2279563"/>
            <a:ext cx="2599549" cy="4677119"/>
          </a:xfrm>
          <a:custGeom>
            <a:avLst/>
            <a:gdLst/>
            <a:ahLst/>
            <a:cxnLst/>
            <a:rect r="r" b="b" t="t" l="l"/>
            <a:pathLst>
              <a:path h="4677119" w="2599549">
                <a:moveTo>
                  <a:pt x="0" y="0"/>
                </a:moveTo>
                <a:lnTo>
                  <a:pt x="2599549" y="0"/>
                </a:lnTo>
                <a:lnTo>
                  <a:pt x="2599549" y="4677119"/>
                </a:lnTo>
                <a:lnTo>
                  <a:pt x="0" y="467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5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79385" y="83525"/>
            <a:ext cx="10724948" cy="3234823"/>
          </a:xfrm>
          <a:custGeom>
            <a:avLst/>
            <a:gdLst/>
            <a:ahLst/>
            <a:cxnLst/>
            <a:rect r="r" b="b" t="t" l="l"/>
            <a:pathLst>
              <a:path h="3234823" w="10724948">
                <a:moveTo>
                  <a:pt x="0" y="0"/>
                </a:moveTo>
                <a:lnTo>
                  <a:pt x="10724948" y="0"/>
                </a:lnTo>
                <a:lnTo>
                  <a:pt x="10724948" y="3234823"/>
                </a:lnTo>
                <a:lnTo>
                  <a:pt x="0" y="32348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181752">
            <a:off x="4902989" y="405309"/>
            <a:ext cx="9001609" cy="183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179">
                <a:solidFill>
                  <a:srgbClr val="3E3835"/>
                </a:solidFill>
                <a:latin typeface="Ribeye"/>
                <a:ea typeface="Ribeye"/>
                <a:cs typeface="Ribeye"/>
                <a:sym typeface="Ribeye"/>
              </a:rPr>
              <a:t>SYSTEM WORKFLOW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7754542" y="2514128"/>
            <a:ext cx="2599549" cy="4677119"/>
          </a:xfrm>
          <a:custGeom>
            <a:avLst/>
            <a:gdLst/>
            <a:ahLst/>
            <a:cxnLst/>
            <a:rect r="r" b="b" t="t" l="l"/>
            <a:pathLst>
              <a:path h="4677119" w="2599549">
                <a:moveTo>
                  <a:pt x="0" y="0"/>
                </a:moveTo>
                <a:lnTo>
                  <a:pt x="2599549" y="0"/>
                </a:lnTo>
                <a:lnTo>
                  <a:pt x="2599549" y="4677119"/>
                </a:lnTo>
                <a:lnTo>
                  <a:pt x="0" y="467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5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3818162" y="2514128"/>
            <a:ext cx="2599549" cy="4677119"/>
          </a:xfrm>
          <a:custGeom>
            <a:avLst/>
            <a:gdLst/>
            <a:ahLst/>
            <a:cxnLst/>
            <a:rect r="r" b="b" t="t" l="l"/>
            <a:pathLst>
              <a:path h="4677119" w="2599549">
                <a:moveTo>
                  <a:pt x="0" y="0"/>
                </a:moveTo>
                <a:lnTo>
                  <a:pt x="2599549" y="0"/>
                </a:lnTo>
                <a:lnTo>
                  <a:pt x="2599549" y="4677119"/>
                </a:lnTo>
                <a:lnTo>
                  <a:pt x="0" y="467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5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663548" y="5850026"/>
            <a:ext cx="2599549" cy="4677119"/>
          </a:xfrm>
          <a:custGeom>
            <a:avLst/>
            <a:gdLst/>
            <a:ahLst/>
            <a:cxnLst/>
            <a:rect r="r" b="b" t="t" l="l"/>
            <a:pathLst>
              <a:path h="4677119" w="2599549">
                <a:moveTo>
                  <a:pt x="0" y="0"/>
                </a:moveTo>
                <a:lnTo>
                  <a:pt x="2599549" y="0"/>
                </a:lnTo>
                <a:lnTo>
                  <a:pt x="2599549" y="4677119"/>
                </a:lnTo>
                <a:lnTo>
                  <a:pt x="0" y="467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5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7742085" y="5948624"/>
            <a:ext cx="2599549" cy="4677119"/>
          </a:xfrm>
          <a:custGeom>
            <a:avLst/>
            <a:gdLst/>
            <a:ahLst/>
            <a:cxnLst/>
            <a:rect r="r" b="b" t="t" l="l"/>
            <a:pathLst>
              <a:path h="4677119" w="2599549">
                <a:moveTo>
                  <a:pt x="0" y="0"/>
                </a:moveTo>
                <a:lnTo>
                  <a:pt x="2599548" y="0"/>
                </a:lnTo>
                <a:lnTo>
                  <a:pt x="2599548" y="4677119"/>
                </a:lnTo>
                <a:lnTo>
                  <a:pt x="0" y="467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5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819378" y="5850026"/>
            <a:ext cx="2599549" cy="4677119"/>
          </a:xfrm>
          <a:custGeom>
            <a:avLst/>
            <a:gdLst/>
            <a:ahLst/>
            <a:cxnLst/>
            <a:rect r="r" b="b" t="t" l="l"/>
            <a:pathLst>
              <a:path h="4677119" w="2599549">
                <a:moveTo>
                  <a:pt x="0" y="0"/>
                </a:moveTo>
                <a:lnTo>
                  <a:pt x="2599549" y="0"/>
                </a:lnTo>
                <a:lnTo>
                  <a:pt x="2599549" y="4677119"/>
                </a:lnTo>
                <a:lnTo>
                  <a:pt x="0" y="467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5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871565"/>
            <a:ext cx="4677119" cy="170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1. STUDENT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STUDENT IS SELECTED/ENTERED.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268004" y="4085877"/>
            <a:ext cx="3768424" cy="127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2. BOOK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BOOK AVAILABILITY IS CHECKED.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55026" y="3958342"/>
            <a:ext cx="3904274" cy="170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3. ISSUE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BOOK IS ISSUED AND THE TRANSACTION IS RECORDED.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308547"/>
            <a:ext cx="3838046" cy="212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4. RETURN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RETURN DATE IS CHECKED AGAINST THE DUE DATE.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259788" y="7413091"/>
            <a:ext cx="3768424" cy="170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5. FINE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DELAYED DAYS AND CATEGORY ARE USED TO CALCULATE THE FINE.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18743" y="7308547"/>
            <a:ext cx="4040557" cy="170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6. RECORD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BOOK AVAILABILITY AND LIBRARY RECORDS ARE UPDATED.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21" t="-50637" r="-3769" b="-454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261804" y="2231489"/>
            <a:ext cx="4738602" cy="8229919"/>
          </a:xfrm>
          <a:custGeom>
            <a:avLst/>
            <a:gdLst/>
            <a:ahLst/>
            <a:cxnLst/>
            <a:rect r="r" b="b" t="t" l="l"/>
            <a:pathLst>
              <a:path h="8229919" w="4738602">
                <a:moveTo>
                  <a:pt x="0" y="0"/>
                </a:moveTo>
                <a:lnTo>
                  <a:pt x="4738603" y="0"/>
                </a:lnTo>
                <a:lnTo>
                  <a:pt x="4738603" y="8229919"/>
                </a:lnTo>
                <a:lnTo>
                  <a:pt x="0" y="8229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36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1190462" y="2134358"/>
            <a:ext cx="4738602" cy="8424182"/>
          </a:xfrm>
          <a:custGeom>
            <a:avLst/>
            <a:gdLst/>
            <a:ahLst/>
            <a:cxnLst/>
            <a:rect r="r" b="b" t="t" l="l"/>
            <a:pathLst>
              <a:path h="8424182" w="4738602">
                <a:moveTo>
                  <a:pt x="0" y="0"/>
                </a:moveTo>
                <a:lnTo>
                  <a:pt x="4738602" y="0"/>
                </a:lnTo>
                <a:lnTo>
                  <a:pt x="4738602" y="8424182"/>
                </a:lnTo>
                <a:lnTo>
                  <a:pt x="0" y="8424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030705" y="7965437"/>
            <a:ext cx="3257295" cy="2321563"/>
          </a:xfrm>
          <a:custGeom>
            <a:avLst/>
            <a:gdLst/>
            <a:ahLst/>
            <a:cxnLst/>
            <a:rect r="r" b="b" t="t" l="l"/>
            <a:pathLst>
              <a:path h="2321563" w="3257295">
                <a:moveTo>
                  <a:pt x="3257295" y="0"/>
                </a:moveTo>
                <a:lnTo>
                  <a:pt x="0" y="0"/>
                </a:lnTo>
                <a:lnTo>
                  <a:pt x="0" y="2321563"/>
                </a:lnTo>
                <a:lnTo>
                  <a:pt x="3257295" y="2321563"/>
                </a:lnTo>
                <a:lnTo>
                  <a:pt x="325729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83591" y="1450144"/>
            <a:ext cx="10724948" cy="3234823"/>
          </a:xfrm>
          <a:custGeom>
            <a:avLst/>
            <a:gdLst/>
            <a:ahLst/>
            <a:cxnLst/>
            <a:rect r="r" b="b" t="t" l="l"/>
            <a:pathLst>
              <a:path h="3234823" w="10724948">
                <a:moveTo>
                  <a:pt x="0" y="0"/>
                </a:moveTo>
                <a:lnTo>
                  <a:pt x="10724948" y="0"/>
                </a:lnTo>
                <a:lnTo>
                  <a:pt x="10724948" y="3234823"/>
                </a:lnTo>
                <a:lnTo>
                  <a:pt x="0" y="3234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81752">
            <a:off x="4446022" y="2010531"/>
            <a:ext cx="8985089" cy="139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2"/>
              </a:lnSpc>
            </a:pPr>
            <a:r>
              <a:rPr lang="en-US" sz="3544" spc="106">
                <a:solidFill>
                  <a:srgbClr val="3E3835"/>
                </a:solidFill>
                <a:latin typeface="Ribeye"/>
                <a:ea typeface="Ribeye"/>
                <a:cs typeface="Ribeye"/>
                <a:sym typeface="Ribeye"/>
              </a:rPr>
              <a:t>TECHNOLOGIES &amp; CONCEPTS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54750" y="4637342"/>
            <a:ext cx="4380979" cy="341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JAVA CONCEPTS</a:t>
            </a:r>
          </a:p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CLASSES &amp; OBJECTS</a:t>
            </a:r>
          </a:p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ENCAPSULATION</a:t>
            </a:r>
          </a:p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CONSTRUCTORS &amp; METHODS</a:t>
            </a:r>
          </a:p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IF-ELSE</a:t>
            </a:r>
          </a:p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SWITCH-CASE</a:t>
            </a:r>
          </a:p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LOOPS &amp; OPERATORS</a:t>
            </a:r>
          </a:p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EVENT HANDLING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0939" y="4601136"/>
            <a:ext cx="2816275" cy="34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2823" spc="84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TECHNOLOGIES</a:t>
            </a:r>
          </a:p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2823" spc="84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JAVA</a:t>
            </a:r>
          </a:p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2823" spc="84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JAVA SWING</a:t>
            </a:r>
          </a:p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2823" spc="84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SCANNER</a:t>
            </a:r>
          </a:p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2823" spc="84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ARRAYLIST</a:t>
            </a:r>
          </a:p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2823" spc="84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LOCALDATE</a:t>
            </a:r>
          </a:p>
          <a:p>
            <a:pPr algn="ctr">
              <a:lnSpc>
                <a:spcPts val="3953"/>
              </a:lnSpc>
              <a:spcBef>
                <a:spcPct val="0"/>
              </a:spcBef>
            </a:pPr>
            <a:r>
              <a:rPr lang="en-US" sz="2823" spc="84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FILE I/O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9285963" y="5439134"/>
            <a:ext cx="688632" cy="7638331"/>
          </a:xfrm>
          <a:custGeom>
            <a:avLst/>
            <a:gdLst/>
            <a:ahLst/>
            <a:cxnLst/>
            <a:rect r="r" b="b" t="t" l="l"/>
            <a:pathLst>
              <a:path h="7638331" w="688632">
                <a:moveTo>
                  <a:pt x="0" y="0"/>
                </a:moveTo>
                <a:lnTo>
                  <a:pt x="688633" y="0"/>
                </a:lnTo>
                <a:lnTo>
                  <a:pt x="688633" y="7638332"/>
                </a:lnTo>
                <a:lnTo>
                  <a:pt x="0" y="7638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6189" t="-7744" r="-221928" b="-254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90789" y="9027145"/>
            <a:ext cx="5550322" cy="41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3" spc="72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CONSOLE-BASED + JAVA SWING GUI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18" t="-78789" r="-4272" b="-1728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4826" y="406059"/>
            <a:ext cx="14727690" cy="9880941"/>
          </a:xfrm>
          <a:custGeom>
            <a:avLst/>
            <a:gdLst/>
            <a:ahLst/>
            <a:cxnLst/>
            <a:rect r="r" b="b" t="t" l="l"/>
            <a:pathLst>
              <a:path h="9880941" w="14727690">
                <a:moveTo>
                  <a:pt x="0" y="0"/>
                </a:moveTo>
                <a:lnTo>
                  <a:pt x="14727691" y="0"/>
                </a:lnTo>
                <a:lnTo>
                  <a:pt x="14727691" y="9880941"/>
                </a:lnTo>
                <a:lnTo>
                  <a:pt x="0" y="9880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09095" y="2566917"/>
            <a:ext cx="9193991" cy="6129327"/>
          </a:xfrm>
          <a:custGeom>
            <a:avLst/>
            <a:gdLst/>
            <a:ahLst/>
            <a:cxnLst/>
            <a:rect r="r" b="b" t="t" l="l"/>
            <a:pathLst>
              <a:path h="6129327" w="9193991">
                <a:moveTo>
                  <a:pt x="0" y="0"/>
                </a:moveTo>
                <a:lnTo>
                  <a:pt x="9193991" y="0"/>
                </a:lnTo>
                <a:lnTo>
                  <a:pt x="9193991" y="6129328"/>
                </a:lnTo>
                <a:lnTo>
                  <a:pt x="0" y="6129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73316" y="1844590"/>
            <a:ext cx="6217221" cy="57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3"/>
              </a:lnSpc>
              <a:spcBef>
                <a:spcPct val="0"/>
              </a:spcBef>
            </a:pPr>
            <a:r>
              <a:rPr lang="en-US" sz="3423" spc="102">
                <a:solidFill>
                  <a:srgbClr val="3E3835"/>
                </a:solidFill>
                <a:latin typeface="Ribeye"/>
                <a:ea typeface="Ribeye"/>
                <a:cs typeface="Ribeye"/>
                <a:sym typeface="Ribeye"/>
              </a:rPr>
              <a:t>SYSTEM ARCHITECTURE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607813" y="8167141"/>
            <a:ext cx="4349271" cy="3099844"/>
          </a:xfrm>
          <a:custGeom>
            <a:avLst/>
            <a:gdLst/>
            <a:ahLst/>
            <a:cxnLst/>
            <a:rect r="r" b="b" t="t" l="l"/>
            <a:pathLst>
              <a:path h="3099844" w="4349271">
                <a:moveTo>
                  <a:pt x="0" y="0"/>
                </a:moveTo>
                <a:lnTo>
                  <a:pt x="4349271" y="0"/>
                </a:lnTo>
                <a:lnTo>
                  <a:pt x="4349271" y="3099844"/>
                </a:lnTo>
                <a:lnTo>
                  <a:pt x="0" y="30998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5503" y="673609"/>
            <a:ext cx="13324879" cy="8939782"/>
          </a:xfrm>
          <a:custGeom>
            <a:avLst/>
            <a:gdLst/>
            <a:ahLst/>
            <a:cxnLst/>
            <a:rect r="r" b="b" t="t" l="l"/>
            <a:pathLst>
              <a:path h="8939782" w="13324879">
                <a:moveTo>
                  <a:pt x="0" y="0"/>
                </a:moveTo>
                <a:lnTo>
                  <a:pt x="13324879" y="0"/>
                </a:lnTo>
                <a:lnTo>
                  <a:pt x="13324879" y="8939782"/>
                </a:lnTo>
                <a:lnTo>
                  <a:pt x="0" y="893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38091" y="2146233"/>
            <a:ext cx="5748924" cy="4686510"/>
          </a:xfrm>
          <a:custGeom>
            <a:avLst/>
            <a:gdLst/>
            <a:ahLst/>
            <a:cxnLst/>
            <a:rect r="r" b="b" t="t" l="l"/>
            <a:pathLst>
              <a:path h="4686510" w="5748924">
                <a:moveTo>
                  <a:pt x="0" y="0"/>
                </a:moveTo>
                <a:lnTo>
                  <a:pt x="5748923" y="0"/>
                </a:lnTo>
                <a:lnTo>
                  <a:pt x="5748923" y="4686510"/>
                </a:lnTo>
                <a:lnTo>
                  <a:pt x="0" y="4686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77715" y="3668445"/>
            <a:ext cx="788045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MindSpace successfully p</a:t>
            </a:r>
            <a:r>
              <a:rPr lang="en-US" sz="3000">
                <a:solidFill>
                  <a:srgbClr val="3E3835"/>
                </a:solidFill>
                <a:latin typeface="Happy Font TH"/>
                <a:ea typeface="Happy Font TH"/>
                <a:cs typeface="Happy Font TH"/>
                <a:sym typeface="Happy Font TH"/>
              </a:rPr>
              <a:t>rovides a simple Java-based solution for managing library books, students, issue and return operations, and overdue fines. The project demonstrates core Java concepts, object-oriented programming, file handling, and Java Swing through a practical library management application.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45465" y="2472602"/>
            <a:ext cx="834495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3E3835"/>
                </a:solidFill>
                <a:latin typeface="Ribeye"/>
                <a:ea typeface="Ribeye"/>
                <a:cs typeface="Ribeye"/>
                <a:sym typeface="Ribeye"/>
              </a:rPr>
              <a:t>CONCLUSION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339269">
            <a:off x="13859664" y="2863112"/>
            <a:ext cx="3426979" cy="3106638"/>
          </a:xfrm>
          <a:custGeom>
            <a:avLst/>
            <a:gdLst/>
            <a:ahLst/>
            <a:cxnLst/>
            <a:rect r="r" b="b" t="t" l="l"/>
            <a:pathLst>
              <a:path h="3106638" w="3426979">
                <a:moveTo>
                  <a:pt x="0" y="0"/>
                </a:moveTo>
                <a:lnTo>
                  <a:pt x="3426979" y="0"/>
                </a:lnTo>
                <a:lnTo>
                  <a:pt x="3426979" y="3106638"/>
                </a:lnTo>
                <a:lnTo>
                  <a:pt x="0" y="31066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18327" y="418082"/>
            <a:ext cx="13651345" cy="8229600"/>
          </a:xfrm>
          <a:custGeom>
            <a:avLst/>
            <a:gdLst/>
            <a:ahLst/>
            <a:cxnLst/>
            <a:rect r="r" b="b" t="t" l="l"/>
            <a:pathLst>
              <a:path h="8229600" w="13651345">
                <a:moveTo>
                  <a:pt x="0" y="0"/>
                </a:moveTo>
                <a:lnTo>
                  <a:pt x="13651346" y="0"/>
                </a:lnTo>
                <a:lnTo>
                  <a:pt x="1365134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42684" y="7842973"/>
            <a:ext cx="5365784" cy="2478017"/>
          </a:xfrm>
          <a:custGeom>
            <a:avLst/>
            <a:gdLst/>
            <a:ahLst/>
            <a:cxnLst/>
            <a:rect r="r" b="b" t="t" l="l"/>
            <a:pathLst>
              <a:path h="2478017" w="5365784">
                <a:moveTo>
                  <a:pt x="0" y="0"/>
                </a:moveTo>
                <a:lnTo>
                  <a:pt x="5365784" y="0"/>
                </a:lnTo>
                <a:lnTo>
                  <a:pt x="5365784" y="2478016"/>
                </a:lnTo>
                <a:lnTo>
                  <a:pt x="0" y="2478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39269">
            <a:off x="12456179" y="4741210"/>
            <a:ext cx="4851376" cy="4397888"/>
          </a:xfrm>
          <a:custGeom>
            <a:avLst/>
            <a:gdLst/>
            <a:ahLst/>
            <a:cxnLst/>
            <a:rect r="r" b="b" t="t" l="l"/>
            <a:pathLst>
              <a:path h="4397888" w="4851376">
                <a:moveTo>
                  <a:pt x="0" y="0"/>
                </a:moveTo>
                <a:lnTo>
                  <a:pt x="4851376" y="0"/>
                </a:lnTo>
                <a:lnTo>
                  <a:pt x="4851376" y="4397889"/>
                </a:lnTo>
                <a:lnTo>
                  <a:pt x="0" y="4397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34824">
            <a:off x="4215661" y="3908408"/>
            <a:ext cx="9634253" cy="254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2"/>
              </a:lnSpc>
            </a:pPr>
            <a:r>
              <a:rPr lang="en-US" sz="17234">
                <a:solidFill>
                  <a:srgbClr val="3E3835"/>
                </a:solidFill>
                <a:latin typeface="Railey"/>
                <a:ea typeface="Railey"/>
                <a:cs typeface="Railey"/>
                <a:sym typeface="Raile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DAHW1SNwpps</dc:identifier>
  <dcterms:modified xsi:type="dcterms:W3CDTF">2011-08-01T06:04:30Z</dcterms:modified>
  <cp:revision>1</cp:revision>
  <dc:title>Project</dc:title>
</cp:coreProperties>
</file>